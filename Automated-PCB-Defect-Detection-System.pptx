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6" r:id="rId6"/>
    <p:sldId id="267" r:id="rId7"/>
    <p:sldId id="268" r:id="rId8"/>
    <p:sldId id="263" r:id="rId9"/>
    <p:sldId id="269" r:id="rId10"/>
  </p:sldIdLst>
  <p:sldSz cx="14630400" cy="8229600"/>
  <p:notesSz cx="8229600" cy="14630400"/>
  <p:embeddedFontLst>
    <p:embeddedFont>
      <p:font typeface="Instrument Sans Medium" panose="020B0604020202020204" charset="0"/>
      <p:regular r:id="rId12"/>
    </p:embeddedFont>
    <p:embeddedFont>
      <p:font typeface="Instrument Sans Semi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983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397079"/>
            <a:ext cx="7556421" cy="1417558"/>
          </a:xfrm>
          <a:prstGeom prst="rect">
            <a:avLst/>
          </a:prstGeom>
          <a:noFill/>
          <a:ln/>
        </p:spPr>
        <p:txBody>
          <a:bodyPr wrap="square" lIns="0" tIns="0" rIns="0" bIns="0" rtlCol="0" anchor="t"/>
          <a:lstStyle/>
          <a:p>
            <a:pPr marL="0" indent="0" algn="l">
              <a:lnSpc>
                <a:spcPts val="5550"/>
              </a:lnSpc>
              <a:buNone/>
            </a:pPr>
            <a:r>
              <a:rPr lang="en-US" sz="6600" dirty="0">
                <a:solidFill>
                  <a:srgbClr val="505468"/>
                </a:solidFill>
                <a:latin typeface="Instrument Sans Semi Bold" pitchFamily="34" charset="0"/>
                <a:ea typeface="Instrument Sans Semi Bold" pitchFamily="34" charset="-122"/>
                <a:cs typeface="Instrument Sans Semi Bold" pitchFamily="34" charset="-120"/>
              </a:rPr>
              <a:t>Automated PCB Defect Detection System</a:t>
            </a:r>
            <a:endParaRPr lang="en-US" sz="660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marL="0" indent="0" algn="l">
              <a:lnSpc>
                <a:spcPts val="2850"/>
              </a:lnSpc>
              <a:buNone/>
            </a:pPr>
            <a:r>
              <a:rPr lang="en-US" sz="3200" b="1" dirty="0">
                <a:solidFill>
                  <a:srgbClr val="5B5F71"/>
                </a:solidFill>
                <a:latin typeface="Instrument Sans Medium" pitchFamily="34" charset="0"/>
              </a:rPr>
              <a:t>Name :  </a:t>
            </a:r>
            <a:r>
              <a:rPr lang="en-US" sz="3200" dirty="0" err="1">
                <a:solidFill>
                  <a:srgbClr val="5B5F71"/>
                </a:solidFill>
                <a:latin typeface="Instrument Sans Medium" pitchFamily="34" charset="0"/>
              </a:rPr>
              <a:t>D.Sritha</a:t>
            </a:r>
            <a:endParaRPr lang="en-US"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76644"/>
          </a:xfrm>
          <a:prstGeom prst="rect">
            <a:avLst/>
          </a:prstGeom>
        </p:spPr>
      </p:pic>
      <p:sp>
        <p:nvSpPr>
          <p:cNvPr id="3" name="Text 0"/>
          <p:cNvSpPr/>
          <p:nvPr/>
        </p:nvSpPr>
        <p:spPr>
          <a:xfrm>
            <a:off x="749379" y="3265765"/>
            <a:ext cx="7481054" cy="535305"/>
          </a:xfrm>
          <a:prstGeom prst="rect">
            <a:avLst/>
          </a:prstGeom>
          <a:noFill/>
          <a:ln/>
        </p:spPr>
        <p:txBody>
          <a:bodyPr wrap="none" lIns="0" tIns="0" rIns="0" bIns="0" rtlCol="0" anchor="t"/>
          <a:lstStyle/>
          <a:p>
            <a:pPr marL="0" indent="0" algn="l">
              <a:lnSpc>
                <a:spcPts val="4200"/>
              </a:lnSpc>
              <a:buNone/>
            </a:pPr>
            <a:r>
              <a:rPr lang="en-US" sz="3350" dirty="0">
                <a:solidFill>
                  <a:srgbClr val="505468"/>
                </a:solidFill>
                <a:latin typeface="Instrument Sans Semi Bold" pitchFamily="34" charset="0"/>
                <a:ea typeface="Instrument Sans Semi Bold" pitchFamily="34" charset="-122"/>
                <a:cs typeface="Instrument Sans Semi Bold" pitchFamily="34" charset="-120"/>
              </a:rPr>
              <a:t>Objective : Precision in PCB Inspection</a:t>
            </a:r>
            <a:endParaRPr lang="en-US" sz="3350" dirty="0"/>
          </a:p>
        </p:txBody>
      </p:sp>
      <p:sp>
        <p:nvSpPr>
          <p:cNvPr id="4" name="Text 1"/>
          <p:cNvSpPr/>
          <p:nvPr/>
        </p:nvSpPr>
        <p:spPr>
          <a:xfrm>
            <a:off x="749379" y="4122182"/>
            <a:ext cx="13131641" cy="685324"/>
          </a:xfrm>
          <a:prstGeom prst="rect">
            <a:avLst/>
          </a:prstGeom>
          <a:noFill/>
          <a:ln/>
        </p:spPr>
        <p:txBody>
          <a:bodyPr wrap="square" lIns="0" tIns="0" rIns="0" bIns="0" rtlCol="0" anchor="t"/>
          <a:lstStyle/>
          <a:p>
            <a:pPr>
              <a:lnSpc>
                <a:spcPts val="2650"/>
              </a:lnSpc>
            </a:pPr>
            <a:r>
              <a:rPr lang="en-US" sz="2800" dirty="0"/>
              <a:t>This project aims to eliminate inefficiencies in manual PCB quality inspection by implementing an end-to-end AI-powered defect detection and classification pipeline. The system automates defect identification using advanced image processing and deep learning techniques, significantly reducing inspection time and human error. High-accuracy defect classification is achieved using the EfficientNet-B0 architecture, capable of identifying six critical PCB defects . </a:t>
            </a:r>
          </a:p>
        </p:txBody>
      </p:sp>
      <p:pic>
        <p:nvPicPr>
          <p:cNvPr id="7" name="Image 2" descr="preencoded.png"/>
          <p:cNvPicPr>
            <a:picLocks noChangeAspect="1"/>
          </p:cNvPicPr>
          <p:nvPr/>
        </p:nvPicPr>
        <p:blipFill>
          <a:blip r:embed="rId4"/>
          <a:stretch>
            <a:fillRect/>
          </a:stretch>
        </p:blipFill>
        <p:spPr>
          <a:xfrm>
            <a:off x="3657540" y="5048369"/>
            <a:ext cx="642342" cy="642342"/>
          </a:xfrm>
          <a:prstGeom prst="rect">
            <a:avLst/>
          </a:prstGeom>
        </p:spPr>
      </p:pic>
      <p:sp>
        <p:nvSpPr>
          <p:cNvPr id="8" name="Text 3"/>
          <p:cNvSpPr/>
          <p:nvPr/>
        </p:nvSpPr>
        <p:spPr>
          <a:xfrm>
            <a:off x="3850184" y="5208984"/>
            <a:ext cx="256937" cy="321112"/>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Instrument Sans Semi Bold" pitchFamily="34" charset="0"/>
                <a:ea typeface="Instrument Sans Semi Bold" pitchFamily="34" charset="-122"/>
                <a:cs typeface="Instrument Sans Semi Bold" pitchFamily="34" charset="-120"/>
              </a:rPr>
              <a:t>1</a:t>
            </a:r>
            <a:endParaRPr lang="en-US" sz="2000" dirty="0"/>
          </a:p>
        </p:txBody>
      </p:sp>
      <p:pic>
        <p:nvPicPr>
          <p:cNvPr id="13" name="Image 4" descr="preencoded.png"/>
          <p:cNvPicPr>
            <a:picLocks noChangeAspect="1"/>
          </p:cNvPicPr>
          <p:nvPr/>
        </p:nvPicPr>
        <p:blipFill>
          <a:blip r:embed="rId4"/>
          <a:stretch>
            <a:fillRect/>
          </a:stretch>
        </p:blipFill>
        <p:spPr>
          <a:xfrm>
            <a:off x="10330398" y="5048369"/>
            <a:ext cx="642342" cy="642342"/>
          </a:xfrm>
          <a:prstGeom prst="rect">
            <a:avLst/>
          </a:prstGeom>
        </p:spPr>
      </p:pic>
      <p:sp>
        <p:nvSpPr>
          <p:cNvPr id="14" name="Text 7"/>
          <p:cNvSpPr/>
          <p:nvPr/>
        </p:nvSpPr>
        <p:spPr>
          <a:xfrm>
            <a:off x="10523041" y="5208984"/>
            <a:ext cx="256937" cy="321112"/>
          </a:xfrm>
          <a:prstGeom prst="rect">
            <a:avLst/>
          </a:prstGeom>
          <a:noFill/>
          <a:ln/>
        </p:spPr>
        <p:txBody>
          <a:bodyPr wrap="none" lIns="0" tIns="0" rIns="0" bIns="0" rtlCol="0" anchor="t"/>
          <a:lstStyle/>
          <a:p>
            <a:pPr marL="0" indent="0" algn="l">
              <a:lnSpc>
                <a:spcPts val="3200"/>
              </a:lnSpc>
              <a:buNone/>
            </a:pPr>
            <a:r>
              <a:rPr lang="en-US" sz="2000" dirty="0">
                <a:solidFill>
                  <a:srgbClr val="FFFFFF"/>
                </a:solidFill>
                <a:latin typeface="Instrument Sans Semi Bold" pitchFamily="34" charset="0"/>
                <a:ea typeface="Instrument Sans Semi Bold" pitchFamily="34" charset="-122"/>
                <a:cs typeface="Instrument Sans Semi Bold" pitchFamily="34" charset="-120"/>
              </a:rPr>
              <a:t>2</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138726" y="468511"/>
            <a:ext cx="5931575" cy="330041"/>
          </a:xfrm>
          <a:prstGeom prst="rect">
            <a:avLst/>
          </a:prstGeom>
          <a:noFill/>
          <a:ln/>
        </p:spPr>
        <p:txBody>
          <a:bodyPr wrap="none" lIns="0" tIns="0" rIns="0" bIns="0" rtlCol="0" anchor="t"/>
          <a:lstStyle/>
          <a:p>
            <a:pPr marL="0" indent="0" algn="l">
              <a:lnSpc>
                <a:spcPts val="2550"/>
              </a:lnSpc>
              <a:buNone/>
            </a:pPr>
            <a:r>
              <a:rPr lang="en-US" sz="2800" b="1" dirty="0">
                <a:solidFill>
                  <a:srgbClr val="505468"/>
                </a:solidFill>
                <a:latin typeface="Instrument Sans Semi Bold" pitchFamily="34" charset="0"/>
                <a:ea typeface="Instrument Sans Semi Bold" pitchFamily="34" charset="-122"/>
                <a:cs typeface="Instrument Sans Semi Bold" pitchFamily="34" charset="-120"/>
              </a:rPr>
              <a:t>System Architecture</a:t>
            </a:r>
            <a:endParaRPr lang="en-US" sz="2800" b="1" dirty="0"/>
          </a:p>
        </p:txBody>
      </p:sp>
      <p:sp>
        <p:nvSpPr>
          <p:cNvPr id="4" name="Shape 2"/>
          <p:cNvSpPr/>
          <p:nvPr/>
        </p:nvSpPr>
        <p:spPr>
          <a:xfrm>
            <a:off x="3138726" y="1422321"/>
            <a:ext cx="528161" cy="792361"/>
          </a:xfrm>
          <a:prstGeom prst="roundRect">
            <a:avLst>
              <a:gd name="adj" fmla="val 360058"/>
            </a:avLst>
          </a:prstGeom>
          <a:solidFill>
            <a:srgbClr val="E2E3E9"/>
          </a:solidFill>
          <a:ln w="7620">
            <a:solidFill>
              <a:srgbClr val="C8C9CF"/>
            </a:solidFill>
            <a:prstDash val="solid"/>
          </a:ln>
        </p:spPr>
      </p:sp>
      <p:sp>
        <p:nvSpPr>
          <p:cNvPr id="5" name="Text 3"/>
          <p:cNvSpPr/>
          <p:nvPr/>
        </p:nvSpPr>
        <p:spPr>
          <a:xfrm>
            <a:off x="3303746" y="1694736"/>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1</a:t>
            </a:r>
            <a:endParaRPr lang="en-US" sz="1550" dirty="0"/>
          </a:p>
        </p:txBody>
      </p:sp>
      <p:sp>
        <p:nvSpPr>
          <p:cNvPr id="6" name="Text 4"/>
          <p:cNvSpPr/>
          <p:nvPr/>
        </p:nvSpPr>
        <p:spPr>
          <a:xfrm>
            <a:off x="3798927" y="1554361"/>
            <a:ext cx="2735461"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Dataset Setup &amp; Image Subtraction</a:t>
            </a:r>
            <a:endParaRPr lang="en-US" sz="2400" dirty="0"/>
          </a:p>
        </p:txBody>
      </p:sp>
      <p:sp>
        <p:nvSpPr>
          <p:cNvPr id="7" name="Shape 5"/>
          <p:cNvSpPr/>
          <p:nvPr/>
        </p:nvSpPr>
        <p:spPr>
          <a:xfrm>
            <a:off x="3138726" y="2346722"/>
            <a:ext cx="528161" cy="792361"/>
          </a:xfrm>
          <a:prstGeom prst="roundRect">
            <a:avLst>
              <a:gd name="adj" fmla="val 360058"/>
            </a:avLst>
          </a:prstGeom>
          <a:solidFill>
            <a:srgbClr val="E2E3E9"/>
          </a:solidFill>
          <a:ln w="7620">
            <a:solidFill>
              <a:srgbClr val="C8C9CF"/>
            </a:solidFill>
            <a:prstDash val="solid"/>
          </a:ln>
        </p:spPr>
      </p:sp>
      <p:sp>
        <p:nvSpPr>
          <p:cNvPr id="8" name="Text 6"/>
          <p:cNvSpPr/>
          <p:nvPr/>
        </p:nvSpPr>
        <p:spPr>
          <a:xfrm>
            <a:off x="3303746" y="2619137"/>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2</a:t>
            </a:r>
            <a:endParaRPr lang="en-US" sz="1550" dirty="0"/>
          </a:p>
        </p:txBody>
      </p:sp>
      <p:sp>
        <p:nvSpPr>
          <p:cNvPr id="9" name="Text 7"/>
          <p:cNvSpPr/>
          <p:nvPr/>
        </p:nvSpPr>
        <p:spPr>
          <a:xfrm>
            <a:off x="3798927" y="2478762"/>
            <a:ext cx="2770942"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Contour Detection &amp; ROI Extraction</a:t>
            </a:r>
            <a:endParaRPr lang="en-US" sz="2400" dirty="0"/>
          </a:p>
        </p:txBody>
      </p:sp>
      <p:sp>
        <p:nvSpPr>
          <p:cNvPr id="10" name="Shape 8"/>
          <p:cNvSpPr/>
          <p:nvPr/>
        </p:nvSpPr>
        <p:spPr>
          <a:xfrm>
            <a:off x="3138726" y="3271123"/>
            <a:ext cx="528161" cy="792361"/>
          </a:xfrm>
          <a:prstGeom prst="roundRect">
            <a:avLst>
              <a:gd name="adj" fmla="val 360058"/>
            </a:avLst>
          </a:prstGeom>
          <a:solidFill>
            <a:srgbClr val="E2E3E9"/>
          </a:solidFill>
          <a:ln w="7620">
            <a:solidFill>
              <a:srgbClr val="C8C9CF"/>
            </a:solidFill>
            <a:prstDash val="solid"/>
          </a:ln>
        </p:spPr>
      </p:sp>
      <p:sp>
        <p:nvSpPr>
          <p:cNvPr id="11" name="Text 9"/>
          <p:cNvSpPr/>
          <p:nvPr/>
        </p:nvSpPr>
        <p:spPr>
          <a:xfrm>
            <a:off x="3303746" y="3543538"/>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3</a:t>
            </a:r>
            <a:endParaRPr lang="en-US" sz="1550" dirty="0"/>
          </a:p>
        </p:txBody>
      </p:sp>
      <p:sp>
        <p:nvSpPr>
          <p:cNvPr id="12" name="Text 10"/>
          <p:cNvSpPr/>
          <p:nvPr/>
        </p:nvSpPr>
        <p:spPr>
          <a:xfrm>
            <a:off x="3798927" y="3403163"/>
            <a:ext cx="2923699"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CNN Model Training (EfficientNet-B0)</a:t>
            </a:r>
            <a:endParaRPr lang="en-US" sz="2400" dirty="0"/>
          </a:p>
        </p:txBody>
      </p:sp>
      <p:sp>
        <p:nvSpPr>
          <p:cNvPr id="13" name="Shape 11"/>
          <p:cNvSpPr/>
          <p:nvPr/>
        </p:nvSpPr>
        <p:spPr>
          <a:xfrm>
            <a:off x="3138726" y="4195524"/>
            <a:ext cx="528161" cy="792361"/>
          </a:xfrm>
          <a:prstGeom prst="roundRect">
            <a:avLst>
              <a:gd name="adj" fmla="val 360058"/>
            </a:avLst>
          </a:prstGeom>
          <a:solidFill>
            <a:srgbClr val="E2E3E9"/>
          </a:solidFill>
          <a:ln w="7620">
            <a:solidFill>
              <a:srgbClr val="C8C9CF"/>
            </a:solidFill>
            <a:prstDash val="solid"/>
          </a:ln>
        </p:spPr>
      </p:sp>
      <p:sp>
        <p:nvSpPr>
          <p:cNvPr id="14" name="Text 12"/>
          <p:cNvSpPr/>
          <p:nvPr/>
        </p:nvSpPr>
        <p:spPr>
          <a:xfrm>
            <a:off x="3303746" y="4467939"/>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4</a:t>
            </a:r>
            <a:endParaRPr lang="en-US" sz="1550" dirty="0"/>
          </a:p>
        </p:txBody>
      </p:sp>
      <p:sp>
        <p:nvSpPr>
          <p:cNvPr id="15" name="Text 13"/>
          <p:cNvSpPr/>
          <p:nvPr/>
        </p:nvSpPr>
        <p:spPr>
          <a:xfrm>
            <a:off x="3798927" y="4327565"/>
            <a:ext cx="2398633"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Inference Pipeline &amp; Prediction</a:t>
            </a:r>
            <a:endParaRPr lang="en-US" sz="2400" dirty="0"/>
          </a:p>
        </p:txBody>
      </p:sp>
      <p:sp>
        <p:nvSpPr>
          <p:cNvPr id="16" name="Shape 14"/>
          <p:cNvSpPr/>
          <p:nvPr/>
        </p:nvSpPr>
        <p:spPr>
          <a:xfrm>
            <a:off x="3138726" y="5119926"/>
            <a:ext cx="528161" cy="792361"/>
          </a:xfrm>
          <a:prstGeom prst="roundRect">
            <a:avLst>
              <a:gd name="adj" fmla="val 360058"/>
            </a:avLst>
          </a:prstGeom>
          <a:solidFill>
            <a:srgbClr val="E2E3E9"/>
          </a:solidFill>
          <a:ln w="7620">
            <a:solidFill>
              <a:srgbClr val="C8C9CF"/>
            </a:solidFill>
            <a:prstDash val="solid"/>
          </a:ln>
        </p:spPr>
      </p:sp>
      <p:sp>
        <p:nvSpPr>
          <p:cNvPr id="17" name="Text 15"/>
          <p:cNvSpPr/>
          <p:nvPr/>
        </p:nvSpPr>
        <p:spPr>
          <a:xfrm>
            <a:off x="3303746" y="5392341"/>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5</a:t>
            </a:r>
            <a:endParaRPr lang="en-US" sz="1550" dirty="0"/>
          </a:p>
        </p:txBody>
      </p:sp>
      <p:sp>
        <p:nvSpPr>
          <p:cNvPr id="18" name="Text 16"/>
          <p:cNvSpPr/>
          <p:nvPr/>
        </p:nvSpPr>
        <p:spPr>
          <a:xfrm>
            <a:off x="3798927" y="5251966"/>
            <a:ext cx="2197656"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Web Frontend (Streamlit UI)</a:t>
            </a:r>
            <a:endParaRPr lang="en-US" sz="2400" dirty="0"/>
          </a:p>
        </p:txBody>
      </p:sp>
      <p:sp>
        <p:nvSpPr>
          <p:cNvPr id="19" name="Shape 17"/>
          <p:cNvSpPr/>
          <p:nvPr/>
        </p:nvSpPr>
        <p:spPr>
          <a:xfrm>
            <a:off x="3138726" y="6044327"/>
            <a:ext cx="528161" cy="792361"/>
          </a:xfrm>
          <a:prstGeom prst="roundRect">
            <a:avLst>
              <a:gd name="adj" fmla="val 360058"/>
            </a:avLst>
          </a:prstGeom>
          <a:solidFill>
            <a:srgbClr val="E2E3E9"/>
          </a:solidFill>
          <a:ln w="7620">
            <a:solidFill>
              <a:srgbClr val="C8C9CF"/>
            </a:solidFill>
            <a:prstDash val="solid"/>
          </a:ln>
        </p:spPr>
      </p:sp>
      <p:sp>
        <p:nvSpPr>
          <p:cNvPr id="20" name="Text 18"/>
          <p:cNvSpPr/>
          <p:nvPr/>
        </p:nvSpPr>
        <p:spPr>
          <a:xfrm>
            <a:off x="3303746" y="6316742"/>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6</a:t>
            </a:r>
            <a:endParaRPr lang="en-US" sz="1550" dirty="0"/>
          </a:p>
        </p:txBody>
      </p:sp>
      <p:sp>
        <p:nvSpPr>
          <p:cNvPr id="21" name="Text 19"/>
          <p:cNvSpPr/>
          <p:nvPr/>
        </p:nvSpPr>
        <p:spPr>
          <a:xfrm>
            <a:off x="3798927" y="6176367"/>
            <a:ext cx="1650683"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Backend Integration</a:t>
            </a:r>
            <a:endParaRPr lang="en-US" sz="2400" dirty="0"/>
          </a:p>
        </p:txBody>
      </p:sp>
      <p:sp>
        <p:nvSpPr>
          <p:cNvPr id="22" name="Shape 20"/>
          <p:cNvSpPr/>
          <p:nvPr/>
        </p:nvSpPr>
        <p:spPr>
          <a:xfrm>
            <a:off x="3138726" y="6968728"/>
            <a:ext cx="528161" cy="792361"/>
          </a:xfrm>
          <a:prstGeom prst="roundRect">
            <a:avLst>
              <a:gd name="adj" fmla="val 360058"/>
            </a:avLst>
          </a:prstGeom>
          <a:solidFill>
            <a:srgbClr val="E2E3E9"/>
          </a:solidFill>
          <a:ln w="7620">
            <a:solidFill>
              <a:srgbClr val="C8C9CF"/>
            </a:solidFill>
            <a:prstDash val="solid"/>
          </a:ln>
        </p:spPr>
      </p:sp>
      <p:sp>
        <p:nvSpPr>
          <p:cNvPr id="23" name="Text 21"/>
          <p:cNvSpPr/>
          <p:nvPr/>
        </p:nvSpPr>
        <p:spPr>
          <a:xfrm>
            <a:off x="3303746" y="7241143"/>
            <a:ext cx="198001" cy="247531"/>
          </a:xfrm>
          <a:prstGeom prst="rect">
            <a:avLst/>
          </a:prstGeom>
          <a:noFill/>
          <a:ln/>
        </p:spPr>
        <p:txBody>
          <a:bodyPr wrap="none" lIns="0" tIns="0" rIns="0" bIns="0" rtlCol="0" anchor="t"/>
          <a:lstStyle/>
          <a:p>
            <a:pPr marL="0" indent="0" algn="l">
              <a:lnSpc>
                <a:spcPts val="1550"/>
              </a:lnSpc>
              <a:buNone/>
            </a:pPr>
            <a:r>
              <a:rPr lang="en-US" sz="1550" dirty="0">
                <a:solidFill>
                  <a:srgbClr val="5B5F71"/>
                </a:solidFill>
                <a:latin typeface="Instrument Sans Semi Bold" pitchFamily="34" charset="0"/>
                <a:ea typeface="Instrument Sans Semi Bold" pitchFamily="34" charset="-122"/>
                <a:cs typeface="Instrument Sans Semi Bold" pitchFamily="34" charset="-120"/>
              </a:rPr>
              <a:t>7</a:t>
            </a:r>
            <a:endParaRPr lang="en-US" sz="1550" dirty="0"/>
          </a:p>
        </p:txBody>
      </p:sp>
      <p:sp>
        <p:nvSpPr>
          <p:cNvPr id="24" name="Text 22"/>
          <p:cNvSpPr/>
          <p:nvPr/>
        </p:nvSpPr>
        <p:spPr>
          <a:xfrm>
            <a:off x="3798927" y="7100768"/>
            <a:ext cx="2499598" cy="206216"/>
          </a:xfrm>
          <a:prstGeom prst="rect">
            <a:avLst/>
          </a:prstGeom>
          <a:noFill/>
          <a:ln/>
        </p:spPr>
        <p:txBody>
          <a:bodyPr wrap="none" lIns="0" tIns="0" rIns="0" bIns="0" rtlCol="0" anchor="t"/>
          <a:lstStyle/>
          <a:p>
            <a:pPr marL="0" indent="0" algn="l">
              <a:lnSpc>
                <a:spcPts val="1600"/>
              </a:lnSpc>
              <a:buNone/>
            </a:pPr>
            <a:r>
              <a:rPr lang="en-US" sz="2400" dirty="0">
                <a:solidFill>
                  <a:srgbClr val="5B5F71"/>
                </a:solidFill>
                <a:latin typeface="Instrument Sans Semi Bold" pitchFamily="34" charset="0"/>
                <a:ea typeface="Instrument Sans Semi Bold" pitchFamily="34" charset="-122"/>
                <a:cs typeface="Instrument Sans Semi Bold" pitchFamily="34" charset="-120"/>
              </a:rPr>
              <a:t>Performance Analytics &amp; Export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9" name="Text 5"/>
          <p:cNvSpPr/>
          <p:nvPr/>
        </p:nvSpPr>
        <p:spPr>
          <a:xfrm>
            <a:off x="4418767" y="4303990"/>
            <a:ext cx="2779633" cy="298847"/>
          </a:xfrm>
          <a:prstGeom prst="rect">
            <a:avLst/>
          </a:prstGeom>
          <a:noFill/>
          <a:ln/>
        </p:spPr>
        <p:txBody>
          <a:bodyPr wrap="none" lIns="0" tIns="0" rIns="0" bIns="0" rtlCol="0" anchor="t"/>
          <a:lstStyle/>
          <a:p>
            <a:pPr marL="0" indent="0" algn="l">
              <a:lnSpc>
                <a:spcPts val="2350"/>
              </a:lnSpc>
              <a:buNone/>
            </a:pPr>
            <a:endParaRPr lang="en-US" sz="1450" dirty="0"/>
          </a:p>
        </p:txBody>
      </p:sp>
      <p:sp>
        <p:nvSpPr>
          <p:cNvPr id="22" name="Shape 2">
            <a:extLst>
              <a:ext uri="{FF2B5EF4-FFF2-40B4-BE49-F238E27FC236}">
                <a16:creationId xmlns:a16="http://schemas.microsoft.com/office/drawing/2014/main" id="{B5C22B6E-5862-F6A5-10D4-B0717D242937}"/>
              </a:ext>
            </a:extLst>
          </p:cNvPr>
          <p:cNvSpPr/>
          <p:nvPr/>
        </p:nvSpPr>
        <p:spPr>
          <a:xfrm>
            <a:off x="1265321" y="463316"/>
            <a:ext cx="528161" cy="792361"/>
          </a:xfrm>
          <a:prstGeom prst="roundRect">
            <a:avLst>
              <a:gd name="adj" fmla="val 360058"/>
            </a:avLst>
          </a:prstGeom>
          <a:solidFill>
            <a:schemeClr val="accent2">
              <a:lumMod val="40000"/>
              <a:lumOff val="60000"/>
            </a:schemeClr>
          </a:solidFill>
          <a:ln w="7620">
            <a:solidFill>
              <a:srgbClr val="C8C9CF"/>
            </a:solidFill>
            <a:prstDash val="solid"/>
          </a:ln>
        </p:spPr>
        <p:txBody>
          <a:bodyPr/>
          <a:lstStyle/>
          <a:p>
            <a:endParaRPr lang="en-IN" dirty="0"/>
          </a:p>
        </p:txBody>
      </p:sp>
      <p:sp>
        <p:nvSpPr>
          <p:cNvPr id="24" name="TextBox 23">
            <a:extLst>
              <a:ext uri="{FF2B5EF4-FFF2-40B4-BE49-F238E27FC236}">
                <a16:creationId xmlns:a16="http://schemas.microsoft.com/office/drawing/2014/main" id="{9933FA4A-FEDA-778B-68BB-B9427EB48A04}"/>
              </a:ext>
            </a:extLst>
          </p:cNvPr>
          <p:cNvSpPr txBox="1"/>
          <p:nvPr/>
        </p:nvSpPr>
        <p:spPr>
          <a:xfrm>
            <a:off x="1929161" y="689706"/>
            <a:ext cx="7315200" cy="339580"/>
          </a:xfrm>
          <a:prstGeom prst="rect">
            <a:avLst/>
          </a:prstGeom>
          <a:noFill/>
        </p:spPr>
        <p:txBody>
          <a:bodyPr wrap="square">
            <a:spAutoFit/>
          </a:bodyPr>
          <a:lstStyle/>
          <a:p>
            <a:pPr marL="0" indent="0" algn="l">
              <a:lnSpc>
                <a:spcPts val="1600"/>
              </a:lnSpc>
              <a:buNone/>
            </a:pPr>
            <a:r>
              <a:rPr lang="en-US" sz="2800" dirty="0">
                <a:solidFill>
                  <a:srgbClr val="5B5F71"/>
                </a:solidFill>
                <a:latin typeface="Instrument Sans Semi Bold" pitchFamily="34" charset="0"/>
                <a:ea typeface="Instrument Sans Semi Bold" pitchFamily="34" charset="-122"/>
                <a:cs typeface="Instrument Sans Semi Bold" pitchFamily="34" charset="-120"/>
              </a:rPr>
              <a:t>Dataset Setup &amp; Image Subtraction</a:t>
            </a:r>
            <a:endParaRPr lang="en-US" sz="2800" dirty="0"/>
          </a:p>
        </p:txBody>
      </p:sp>
      <p:sp>
        <p:nvSpPr>
          <p:cNvPr id="26" name="TextBox 25">
            <a:extLst>
              <a:ext uri="{FF2B5EF4-FFF2-40B4-BE49-F238E27FC236}">
                <a16:creationId xmlns:a16="http://schemas.microsoft.com/office/drawing/2014/main" id="{AAC5D4B5-8203-7C17-974D-344D8B5CB74D}"/>
              </a:ext>
            </a:extLst>
          </p:cNvPr>
          <p:cNvSpPr txBox="1"/>
          <p:nvPr/>
        </p:nvSpPr>
        <p:spPr>
          <a:xfrm>
            <a:off x="2336468" y="1389102"/>
            <a:ext cx="8787161" cy="6247864"/>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Instrument Sans Medium" panose="020B0604020202020204" charset="0"/>
              </a:rPr>
              <a:t>Robust Template Matching</a:t>
            </a:r>
            <a:br>
              <a:rPr lang="en-US" sz="2000" dirty="0">
                <a:latin typeface="Instrument Sans Medium" panose="020B0604020202020204" charset="0"/>
              </a:rPr>
            </a:br>
            <a:r>
              <a:rPr lang="en-US" sz="2000" dirty="0">
                <a:latin typeface="Instrument Sans Medium" panose="020B0604020202020204" charset="0"/>
              </a:rPr>
              <a:t>           Before defect detection, the system identifies the correct defect-free reference PCB from a library of golden templates. Normalized Cross-Correlation is used to compare the test image against each template, automatically selecting the best match with an average similarity score of </a:t>
            </a:r>
            <a:r>
              <a:rPr lang="en-US" sz="2000" b="1" dirty="0">
                <a:latin typeface="Instrument Sans Medium" panose="020B0604020202020204" charset="0"/>
              </a:rPr>
              <a:t>0.8744</a:t>
            </a:r>
            <a:r>
              <a:rPr lang="en-US" sz="2000" dirty="0">
                <a:latin typeface="Instrument Sans Medium" panose="020B0604020202020204" charset="0"/>
              </a:rPr>
              <a:t>. To ensure reliable alignment, a minimum similarity threshold of </a:t>
            </a:r>
            <a:r>
              <a:rPr lang="en-US" sz="2000" b="1" dirty="0">
                <a:latin typeface="Instrument Sans Medium" panose="020B0604020202020204" charset="0"/>
              </a:rPr>
              <a:t>0.6</a:t>
            </a:r>
            <a:r>
              <a:rPr lang="en-US" sz="2000" dirty="0">
                <a:latin typeface="Instrument Sans Medium" panose="020B0604020202020204" charset="0"/>
              </a:rPr>
              <a:t> is enforced, preventing incorrect template selection and misregistration. </a:t>
            </a:r>
          </a:p>
          <a:p>
            <a:pPr marL="342900" indent="-342900">
              <a:buFont typeface="Arial" panose="020B0604020202020204" pitchFamily="34" charset="0"/>
              <a:buChar char="•"/>
            </a:pPr>
            <a:endParaRPr lang="en-US" sz="2000" b="1" dirty="0">
              <a:latin typeface="Instrument Sans Medium" panose="020B0604020202020204" charset="0"/>
            </a:endParaRPr>
          </a:p>
          <a:p>
            <a:pPr marL="342900" indent="-342900">
              <a:buFont typeface="Arial" panose="020B0604020202020204" pitchFamily="34" charset="0"/>
              <a:buChar char="•"/>
            </a:pPr>
            <a:endParaRPr lang="en-US" sz="2000" b="1" dirty="0">
              <a:latin typeface="Instrument Sans Medium" panose="020B0604020202020204" charset="0"/>
            </a:endParaRPr>
          </a:p>
          <a:p>
            <a:pPr marL="342900" indent="-342900">
              <a:buFont typeface="Arial" panose="020B0604020202020204" pitchFamily="34" charset="0"/>
              <a:buChar char="•"/>
            </a:pPr>
            <a:r>
              <a:rPr lang="en-US" sz="2000" b="1" dirty="0">
                <a:latin typeface="Instrument Sans Medium" panose="020B0604020202020204" charset="0"/>
              </a:rPr>
              <a:t>Intense Defect Extraction Pipeline</a:t>
            </a:r>
            <a:br>
              <a:rPr lang="en-US" sz="2000" dirty="0">
                <a:latin typeface="Instrument Sans Medium" panose="020B0604020202020204" charset="0"/>
              </a:rPr>
            </a:br>
            <a:r>
              <a:rPr lang="en-US" sz="2000" dirty="0">
                <a:latin typeface="Instrument Sans Medium" panose="020B0604020202020204" charset="0"/>
              </a:rPr>
              <a:t>         Once alignment is achieved, a multi-stage computer vision pipeline is applied to extract defect regions by emphasizing differences between the test PCB and the matched template. CLAHE is used to normalize local contrast, ensuring defect visibility under varying illumination conditions. Adaptive thresholding with </a:t>
            </a:r>
            <a:r>
              <a:rPr lang="en-US" sz="2000" b="1" dirty="0">
                <a:latin typeface="Instrument Sans Medium" panose="020B0604020202020204" charset="0"/>
              </a:rPr>
              <a:t>11×11</a:t>
            </a:r>
            <a:r>
              <a:rPr lang="en-US" sz="2000" dirty="0">
                <a:latin typeface="Instrument Sans Medium" panose="020B0604020202020204" charset="0"/>
              </a:rPr>
              <a:t> local windows handles non-uniform reflections across the PCB surface. Median blur filtering removes salt-and-pepper noise while preserving sharp defect boundaries, and certainty masking applies a global threshold to suppress shadow artifacts and false positives.</a:t>
            </a:r>
          </a:p>
        </p:txBody>
      </p:sp>
      <p:pic>
        <p:nvPicPr>
          <p:cNvPr id="28" name="Picture 27">
            <a:extLst>
              <a:ext uri="{FF2B5EF4-FFF2-40B4-BE49-F238E27FC236}">
                <a16:creationId xmlns:a16="http://schemas.microsoft.com/office/drawing/2014/main" id="{B5BCD0BE-843D-A484-F1E5-355513563F62}"/>
              </a:ext>
            </a:extLst>
          </p:cNvPr>
          <p:cNvPicPr>
            <a:picLocks noChangeAspect="1"/>
          </p:cNvPicPr>
          <p:nvPr/>
        </p:nvPicPr>
        <p:blipFill>
          <a:blip r:embed="rId3"/>
          <a:stretch>
            <a:fillRect/>
          </a:stretch>
        </p:blipFill>
        <p:spPr>
          <a:xfrm>
            <a:off x="482728" y="341291"/>
            <a:ext cx="1310754" cy="10364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55839D-E993-D8A2-DFE4-20146EC9E13F}"/>
              </a:ext>
            </a:extLst>
          </p:cNvPr>
          <p:cNvSpPr txBox="1"/>
          <p:nvPr/>
        </p:nvSpPr>
        <p:spPr>
          <a:xfrm>
            <a:off x="2419814" y="688854"/>
            <a:ext cx="7315200" cy="339580"/>
          </a:xfrm>
          <a:prstGeom prst="rect">
            <a:avLst/>
          </a:prstGeom>
          <a:noFill/>
        </p:spPr>
        <p:txBody>
          <a:bodyPr wrap="square">
            <a:spAutoFit/>
          </a:bodyPr>
          <a:lstStyle/>
          <a:p>
            <a:pPr marL="0" indent="0" algn="l">
              <a:lnSpc>
                <a:spcPts val="1600"/>
              </a:lnSpc>
              <a:buNone/>
            </a:pPr>
            <a:r>
              <a:rPr lang="en-US" sz="2800" b="1" dirty="0">
                <a:solidFill>
                  <a:srgbClr val="5B5F71"/>
                </a:solidFill>
                <a:latin typeface="Instrument Sans Semi Bold" pitchFamily="34" charset="0"/>
                <a:ea typeface="Instrument Sans Semi Bold" pitchFamily="34" charset="-122"/>
                <a:cs typeface="Instrument Sans Semi Bold" pitchFamily="34" charset="-120"/>
              </a:rPr>
              <a:t>Contour Detection &amp; ROI Extraction</a:t>
            </a:r>
            <a:endParaRPr lang="en-US" sz="2800" b="1" dirty="0"/>
          </a:p>
        </p:txBody>
      </p:sp>
      <p:pic>
        <p:nvPicPr>
          <p:cNvPr id="5" name="Picture 4">
            <a:extLst>
              <a:ext uri="{FF2B5EF4-FFF2-40B4-BE49-F238E27FC236}">
                <a16:creationId xmlns:a16="http://schemas.microsoft.com/office/drawing/2014/main" id="{B7DAFA1B-92F6-2216-028B-7EEC77EA3C33}"/>
              </a:ext>
            </a:extLst>
          </p:cNvPr>
          <p:cNvPicPr>
            <a:picLocks noChangeAspect="1"/>
          </p:cNvPicPr>
          <p:nvPr/>
        </p:nvPicPr>
        <p:blipFill>
          <a:blip r:embed="rId2"/>
          <a:stretch>
            <a:fillRect/>
          </a:stretch>
        </p:blipFill>
        <p:spPr>
          <a:xfrm>
            <a:off x="851436" y="279474"/>
            <a:ext cx="1196444" cy="1158340"/>
          </a:xfrm>
          <a:prstGeom prst="rect">
            <a:avLst/>
          </a:prstGeom>
        </p:spPr>
      </p:pic>
      <p:sp>
        <p:nvSpPr>
          <p:cNvPr id="10" name="Rectangle 2">
            <a:extLst>
              <a:ext uri="{FF2B5EF4-FFF2-40B4-BE49-F238E27FC236}">
                <a16:creationId xmlns:a16="http://schemas.microsoft.com/office/drawing/2014/main" id="{C258E1A2-648A-2F05-CEA5-5929514AA946}"/>
              </a:ext>
            </a:extLst>
          </p:cNvPr>
          <p:cNvSpPr>
            <a:spLocks noChangeArrowheads="1"/>
          </p:cNvSpPr>
          <p:nvPr/>
        </p:nvSpPr>
        <p:spPr bwMode="auto">
          <a:xfrm>
            <a:off x="1583472" y="1835773"/>
            <a:ext cx="1252282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mj-lt"/>
              <a:buAutoNum type="arabicPeriod"/>
            </a:pPr>
            <a:r>
              <a:rPr kumimoji="0" lang="en-US" altLang="en-US" sz="2400" i="0" u="none" strike="noStrike" cap="none" normalizeH="0" baseline="0" dirty="0">
                <a:ln>
                  <a:noFill/>
                </a:ln>
                <a:solidFill>
                  <a:schemeClr val="tx1"/>
                </a:solidFill>
                <a:effectLst/>
                <a:latin typeface="Instrument Sans Medium" panose="020B0604020202020204" charset="0"/>
              </a:rPr>
              <a:t> Contour-Based Defect Localization</a:t>
            </a:r>
            <a:br>
              <a:rPr kumimoji="0" lang="en-US" altLang="en-US" sz="2400" i="0" u="none" strike="noStrike" cap="none" normalizeH="0" baseline="0" dirty="0">
                <a:ln>
                  <a:noFill/>
                </a:ln>
                <a:solidFill>
                  <a:schemeClr val="tx1"/>
                </a:solidFill>
                <a:effectLst/>
                <a:latin typeface="Instrument Sans Medium" panose="020B0604020202020204" charset="0"/>
              </a:rPr>
            </a:br>
            <a:endParaRPr lang="en-US" sz="2400" dirty="0">
              <a:latin typeface="Instrument Sans Medium" panose="020B0604020202020204" charset="0"/>
            </a:endParaRPr>
          </a:p>
          <a:p>
            <a:pPr marL="457200" lvl="0" indent="-457200" eaLnBrk="0" fontAlgn="base" hangingPunct="0">
              <a:spcBef>
                <a:spcPct val="0"/>
              </a:spcBef>
              <a:spcAft>
                <a:spcPct val="0"/>
              </a:spcAft>
              <a:buFont typeface="+mj-lt"/>
              <a:buAutoNum type="arabicPeriod"/>
            </a:pPr>
            <a:r>
              <a:rPr kumimoji="0" lang="en-US" altLang="en-US" sz="2400" i="0" u="none" strike="noStrike" cap="none" normalizeH="0" baseline="0" dirty="0">
                <a:ln>
                  <a:noFill/>
                </a:ln>
                <a:solidFill>
                  <a:schemeClr val="tx1"/>
                </a:solidFill>
                <a:effectLst/>
                <a:latin typeface="Instrument Sans Medium" panose="020B0604020202020204" charset="0"/>
              </a:rPr>
              <a:t> Noise Suppression</a:t>
            </a:r>
            <a:br>
              <a:rPr kumimoji="0" lang="en-US" altLang="en-US" sz="2400" i="0" u="none" strike="noStrike" cap="none" normalizeH="0" baseline="0" dirty="0">
                <a:ln>
                  <a:noFill/>
                </a:ln>
                <a:solidFill>
                  <a:schemeClr val="tx1"/>
                </a:solidFill>
                <a:effectLst/>
                <a:latin typeface="Instrument Sans Medium" panose="020B0604020202020204" charset="0"/>
              </a:rPr>
            </a:br>
            <a:endParaRPr kumimoji="0" lang="en-US" altLang="en-US" sz="2400" i="0" u="none" strike="noStrike" cap="none" normalizeH="0" baseline="0" dirty="0">
              <a:ln>
                <a:noFill/>
              </a:ln>
              <a:solidFill>
                <a:schemeClr val="tx1"/>
              </a:solidFill>
              <a:effectLst/>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Bounding Box Extraction</a:t>
            </a:r>
            <a:br>
              <a:rPr kumimoji="0" lang="en-US" altLang="en-US" sz="2400" i="0" u="none" strike="noStrike" cap="none" normalizeH="0" baseline="0" dirty="0">
                <a:ln>
                  <a:noFill/>
                </a:ln>
                <a:solidFill>
                  <a:schemeClr val="tx1"/>
                </a:solidFill>
                <a:effectLst/>
                <a:latin typeface="Instrument Sans Medium" panose="020B0604020202020204" charset="0"/>
              </a:rPr>
            </a:br>
            <a:endParaRPr kumimoji="0" lang="en-US" altLang="en-US" sz="2400" i="0" u="none" strike="noStrike" cap="none" normalizeH="0" baseline="0" dirty="0">
              <a:ln>
                <a:noFill/>
              </a:ln>
              <a:solidFill>
                <a:schemeClr val="tx1"/>
              </a:solidFill>
              <a:effectLst/>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Contextual Padding for CNNs</a:t>
            </a:r>
            <a:br>
              <a:rPr kumimoji="0" lang="en-US" altLang="en-US" sz="2400" i="0" u="none" strike="noStrike" cap="none" normalizeH="0" baseline="0" dirty="0">
                <a:ln>
                  <a:noFill/>
                </a:ln>
                <a:solidFill>
                  <a:schemeClr val="tx1"/>
                </a:solidFill>
                <a:effectLst/>
                <a:latin typeface="Instrument Sans Medium" panose="020B0604020202020204" charset="0"/>
              </a:rPr>
            </a:br>
            <a:endParaRPr kumimoji="0" lang="en-US" altLang="en-US" sz="2400" i="0" u="none" strike="noStrike" cap="none" normalizeH="0" baseline="0" dirty="0">
              <a:ln>
                <a:noFill/>
              </a:ln>
              <a:solidFill>
                <a:schemeClr val="tx1"/>
              </a:solidFill>
              <a:effectLst/>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Defect Class Coverage</a:t>
            </a:r>
            <a:endParaRPr lang="en-US" altLang="en-US" sz="2400" dirty="0">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i="0" u="none" strike="noStrike" cap="none" normalizeH="0" baseline="0" dirty="0">
              <a:ln>
                <a:noFill/>
              </a:ln>
              <a:solidFill>
                <a:schemeClr val="tx1"/>
              </a:solidFill>
              <a:effectLst/>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Scalability Result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Training Consistency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Instrument Sans Medium" panose="020B060402020202020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Instrument Sans Medium" panose="020B0604020202020204" charset="0"/>
              </a:rPr>
              <a:t> Precision Validation</a:t>
            </a:r>
            <a:br>
              <a:rPr kumimoji="0" lang="en-US" altLang="en-US" sz="2400" i="0" u="none" strike="noStrike" cap="none" normalizeH="0" baseline="0" dirty="0">
                <a:ln>
                  <a:noFill/>
                </a:ln>
                <a:solidFill>
                  <a:schemeClr val="tx1"/>
                </a:solidFill>
                <a:effectLst/>
                <a:latin typeface="Instrument Sans Medium" panose="020B0604020202020204" charset="0"/>
              </a:rPr>
            </a:br>
            <a:endParaRPr kumimoji="0" lang="en-US" altLang="en-US" sz="2400" i="0" u="none" strike="noStrike" cap="none" normalizeH="0" baseline="0" dirty="0">
              <a:ln>
                <a:noFill/>
              </a:ln>
              <a:solidFill>
                <a:schemeClr val="tx1"/>
              </a:solidFill>
              <a:effectLst/>
              <a:latin typeface="Instrument Sans Medium" panose="020B0604020202020204" charset="0"/>
            </a:endParaRPr>
          </a:p>
        </p:txBody>
      </p:sp>
    </p:spTree>
    <p:extLst>
      <p:ext uri="{BB962C8B-B14F-4D97-AF65-F5344CB8AC3E}">
        <p14:creationId xmlns:p14="http://schemas.microsoft.com/office/powerpoint/2010/main" val="416142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06C9D65D-7264-E65C-5CAD-178259FFC4B4}"/>
              </a:ext>
            </a:extLst>
          </p:cNvPr>
          <p:cNvSpPr>
            <a:spLocks noChangeArrowheads="1"/>
          </p:cNvSpPr>
          <p:nvPr/>
        </p:nvSpPr>
        <p:spPr bwMode="auto">
          <a:xfrm rot="10800000" flipV="1">
            <a:off x="2219091" y="1683360"/>
            <a:ext cx="117868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Model Architecture</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EfficientNet-B0 pre-trained on ImageNet, fine-tuned for </a:t>
            </a:r>
            <a:r>
              <a:rPr kumimoji="0" lang="en-US" altLang="en-US" i="0" u="none" strike="noStrike" cap="none" normalizeH="0" baseline="0" dirty="0">
                <a:ln>
                  <a:noFill/>
                </a:ln>
                <a:solidFill>
                  <a:schemeClr val="tx1"/>
                </a:solidFill>
                <a:effectLst/>
                <a:latin typeface="Instrument Sans Medium" panose="020B0604020202020204" charset="0"/>
              </a:rPr>
              <a:t>6 PCB defect classes </a:t>
            </a:r>
            <a:r>
              <a:rPr kumimoji="0" lang="en-US" altLang="en-US" b="0" i="0" u="none" strike="noStrike" cap="none" normalizeH="0" baseline="0" dirty="0">
                <a:ln>
                  <a:noFill/>
                </a:ln>
                <a:solidFill>
                  <a:schemeClr val="tx1"/>
                </a:solidFill>
                <a:effectLst/>
                <a:latin typeface="Instrument Sans Medium" panose="020B0604020202020204" charset="0"/>
              </a:rPr>
              <a:t>using a custom classification head.</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Input Configuration</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Defect ROIs resized to </a:t>
            </a:r>
            <a:r>
              <a:rPr kumimoji="0" lang="en-US" altLang="en-US" i="0" u="none" strike="noStrike" cap="none" normalizeH="0" baseline="0" dirty="0">
                <a:ln>
                  <a:noFill/>
                </a:ln>
                <a:solidFill>
                  <a:schemeClr val="tx1"/>
                </a:solidFill>
                <a:effectLst/>
                <a:latin typeface="Instrument Sans Medium" panose="020B0604020202020204" charset="0"/>
              </a:rPr>
              <a:t>128×128</a:t>
            </a:r>
            <a:r>
              <a:rPr kumimoji="0" lang="en-US" altLang="en-US" b="0" i="0" u="none" strike="noStrike" cap="none" normalizeH="0" baseline="0" dirty="0">
                <a:ln>
                  <a:noFill/>
                </a:ln>
                <a:solidFill>
                  <a:schemeClr val="tx1"/>
                </a:solidFill>
                <a:effectLst/>
                <a:latin typeface="Instrument Sans Medium" panose="020B0604020202020204" charset="0"/>
              </a:rPr>
              <a:t> pixels to balance spatial detail and computational efficiency.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Data Augmentation</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Random flips, rotations, and slight color jitter applied during training to improve generalization and reduce overfitting.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Train–Validation Split</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Dataset split into </a:t>
            </a:r>
            <a:r>
              <a:rPr kumimoji="0" lang="en-US" altLang="en-US" i="0" u="none" strike="noStrike" cap="none" normalizeH="0" baseline="0" dirty="0">
                <a:ln>
                  <a:noFill/>
                </a:ln>
                <a:solidFill>
                  <a:schemeClr val="tx1"/>
                </a:solidFill>
                <a:effectLst/>
                <a:latin typeface="Instrument Sans Medium" panose="020B0604020202020204" charset="0"/>
              </a:rPr>
              <a:t>80% training</a:t>
            </a:r>
            <a:r>
              <a:rPr kumimoji="0" lang="en-US" altLang="en-US" b="0" i="0" u="none" strike="noStrike" cap="none" normalizeH="0" baseline="0" dirty="0">
                <a:ln>
                  <a:noFill/>
                </a:ln>
                <a:solidFill>
                  <a:schemeClr val="tx1"/>
                </a:solidFill>
                <a:effectLst/>
                <a:latin typeface="Instrument Sans Medium" panose="020B0604020202020204" charset="0"/>
              </a:rPr>
              <a:t> and </a:t>
            </a:r>
            <a:r>
              <a:rPr kumimoji="0" lang="en-US" altLang="en-US" i="0" u="none" strike="noStrike" cap="none" normalizeH="0" baseline="0" dirty="0">
                <a:ln>
                  <a:noFill/>
                </a:ln>
                <a:solidFill>
                  <a:schemeClr val="tx1"/>
                </a:solidFill>
                <a:effectLst/>
                <a:latin typeface="Instrument Sans Medium" panose="020B0604020202020204" charset="0"/>
              </a:rPr>
              <a:t>20% validation</a:t>
            </a:r>
            <a:r>
              <a:rPr kumimoji="0" lang="en-US" altLang="en-US" b="0" i="0" u="none" strike="noStrike" cap="none" normalizeH="0" baseline="0" dirty="0">
                <a:ln>
                  <a:noFill/>
                </a:ln>
                <a:solidFill>
                  <a:schemeClr val="tx1"/>
                </a:solidFill>
                <a:effectLst/>
                <a:latin typeface="Instrument Sans Medium" panose="020B0604020202020204" charset="0"/>
              </a:rPr>
              <a:t> to ensure unbiased performance evaluation.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Optimization Strategy</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Trained using </a:t>
            </a:r>
            <a:r>
              <a:rPr kumimoji="0" lang="en-US" altLang="en-US" i="0" u="none" strike="noStrike" cap="none" normalizeH="0" baseline="0" dirty="0">
                <a:ln>
                  <a:noFill/>
                </a:ln>
                <a:solidFill>
                  <a:schemeClr val="tx1"/>
                </a:solidFill>
                <a:effectLst/>
                <a:latin typeface="Instrument Sans Medium" panose="020B0604020202020204" charset="0"/>
              </a:rPr>
              <a:t>Adam optimizer</a:t>
            </a:r>
            <a:r>
              <a:rPr kumimoji="0" lang="en-US" altLang="en-US" b="0" i="0" u="none" strike="noStrike" cap="none" normalizeH="0" baseline="0" dirty="0">
                <a:ln>
                  <a:noFill/>
                </a:ln>
                <a:solidFill>
                  <a:schemeClr val="tx1"/>
                </a:solidFill>
                <a:effectLst/>
                <a:latin typeface="Instrument Sans Medium" panose="020B0604020202020204" charset="0"/>
              </a:rPr>
              <a:t> with cross-entropy loss and adaptive learning rate reduction based on validation loss.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Early Stopping</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Training automatically stops when validation loss stops improving, preventing overfitting and saving the best model.</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Performance Monitoring</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Accuracy and loss tracked per epoch with learning curves for training stability analysis.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Final Evaluation</a:t>
            </a:r>
            <a:r>
              <a:rPr kumimoji="0" lang="en-US" altLang="en-US" b="0" i="0" u="none" strike="noStrike" cap="none" normalizeH="0" baseline="0" dirty="0">
                <a:ln>
                  <a:noFill/>
                </a:ln>
                <a:solidFill>
                  <a:schemeClr val="tx1"/>
                </a:solidFill>
                <a:effectLst/>
                <a:latin typeface="Instrument Sans Medium" panose="020B0604020202020204" charset="0"/>
              </a:rPr>
              <a:t>:</a:t>
            </a:r>
            <a:br>
              <a:rPr kumimoji="0" lang="en-US" altLang="en-US" b="0" i="0" u="none" strike="noStrike" cap="none" normalizeH="0" baseline="0" dirty="0">
                <a:ln>
                  <a:noFill/>
                </a:ln>
                <a:solidFill>
                  <a:schemeClr val="tx1"/>
                </a:solidFill>
                <a:effectLst/>
                <a:latin typeface="Instrument Sans Medium" panose="020B0604020202020204" charset="0"/>
              </a:rPr>
            </a:br>
            <a:r>
              <a:rPr kumimoji="0" lang="en-US" altLang="en-US" b="0" i="0" u="none" strike="noStrike" cap="none" normalizeH="0" baseline="0" dirty="0">
                <a:ln>
                  <a:noFill/>
                </a:ln>
                <a:solidFill>
                  <a:schemeClr val="tx1"/>
                </a:solidFill>
                <a:effectLst/>
                <a:latin typeface="Instrument Sans Medium" panose="020B0604020202020204" charset="0"/>
              </a:rPr>
              <a:t>Model performance assessed using </a:t>
            </a:r>
            <a:r>
              <a:rPr kumimoji="0" lang="en-US" altLang="en-US" i="0" u="none" strike="noStrike" cap="none" normalizeH="0" baseline="0" dirty="0">
                <a:ln>
                  <a:noFill/>
                </a:ln>
                <a:solidFill>
                  <a:schemeClr val="tx1"/>
                </a:solidFill>
                <a:effectLst/>
                <a:latin typeface="Instrument Sans Medium" panose="020B0604020202020204" charset="0"/>
              </a:rPr>
              <a:t>confusion matrix, precision, recall, and F1-score</a:t>
            </a:r>
            <a:r>
              <a:rPr kumimoji="0" lang="en-US" altLang="en-US" b="0" i="0" u="none" strike="noStrike" cap="none" normalizeH="0" baseline="0" dirty="0">
                <a:ln>
                  <a:noFill/>
                </a:ln>
                <a:solidFill>
                  <a:schemeClr val="tx1"/>
                </a:solidFill>
                <a:effectLst/>
                <a:latin typeface="Instrument Sans Medium" panose="020B0604020202020204" charset="0"/>
              </a:rPr>
              <a:t> for each defect class.</a:t>
            </a:r>
          </a:p>
        </p:txBody>
      </p:sp>
      <p:pic>
        <p:nvPicPr>
          <p:cNvPr id="5" name="Picture 4">
            <a:extLst>
              <a:ext uri="{FF2B5EF4-FFF2-40B4-BE49-F238E27FC236}">
                <a16:creationId xmlns:a16="http://schemas.microsoft.com/office/drawing/2014/main" id="{5B03120F-1054-45D6-2629-8207024CC0CD}"/>
              </a:ext>
            </a:extLst>
          </p:cNvPr>
          <p:cNvPicPr>
            <a:picLocks noChangeAspect="1"/>
          </p:cNvPicPr>
          <p:nvPr/>
        </p:nvPicPr>
        <p:blipFill>
          <a:blip r:embed="rId2"/>
          <a:stretch>
            <a:fillRect/>
          </a:stretch>
        </p:blipFill>
        <p:spPr>
          <a:xfrm>
            <a:off x="693081" y="234590"/>
            <a:ext cx="1379340" cy="1181202"/>
          </a:xfrm>
          <a:prstGeom prst="rect">
            <a:avLst/>
          </a:prstGeom>
        </p:spPr>
      </p:pic>
      <p:sp>
        <p:nvSpPr>
          <p:cNvPr id="7" name="TextBox 6">
            <a:extLst>
              <a:ext uri="{FF2B5EF4-FFF2-40B4-BE49-F238E27FC236}">
                <a16:creationId xmlns:a16="http://schemas.microsoft.com/office/drawing/2014/main" id="{2D50CC79-AADB-7150-7869-F968E6AF5B2E}"/>
              </a:ext>
            </a:extLst>
          </p:cNvPr>
          <p:cNvSpPr txBox="1"/>
          <p:nvPr/>
        </p:nvSpPr>
        <p:spPr>
          <a:xfrm>
            <a:off x="2520175" y="744138"/>
            <a:ext cx="7315200" cy="339580"/>
          </a:xfrm>
          <a:prstGeom prst="rect">
            <a:avLst/>
          </a:prstGeom>
          <a:noFill/>
        </p:spPr>
        <p:txBody>
          <a:bodyPr wrap="square">
            <a:spAutoFit/>
          </a:bodyPr>
          <a:lstStyle/>
          <a:p>
            <a:pPr marL="0" indent="0" algn="l">
              <a:lnSpc>
                <a:spcPts val="1600"/>
              </a:lnSpc>
              <a:buNone/>
            </a:pPr>
            <a:r>
              <a:rPr lang="en-US" sz="2800" b="1" dirty="0">
                <a:solidFill>
                  <a:srgbClr val="5B5F71"/>
                </a:solidFill>
                <a:latin typeface="Instrument Sans Semi Bold" pitchFamily="34" charset="0"/>
                <a:ea typeface="Instrument Sans Semi Bold" pitchFamily="34" charset="-122"/>
                <a:cs typeface="Instrument Sans Semi Bold" pitchFamily="34" charset="-120"/>
              </a:rPr>
              <a:t>CNN Model Training (EfficientNet-B0)</a:t>
            </a:r>
            <a:endParaRPr lang="en-US" sz="2800" b="1" dirty="0"/>
          </a:p>
        </p:txBody>
      </p:sp>
    </p:spTree>
    <p:extLst>
      <p:ext uri="{BB962C8B-B14F-4D97-AF65-F5344CB8AC3E}">
        <p14:creationId xmlns:p14="http://schemas.microsoft.com/office/powerpoint/2010/main" val="1205273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F27C53-259E-4A45-45A1-E5548E32C0BE}"/>
              </a:ext>
            </a:extLst>
          </p:cNvPr>
          <p:cNvSpPr txBox="1"/>
          <p:nvPr/>
        </p:nvSpPr>
        <p:spPr>
          <a:xfrm>
            <a:off x="2397512" y="1714143"/>
            <a:ext cx="11262732" cy="6247864"/>
          </a:xfrm>
          <a:prstGeom prst="rect">
            <a:avLst/>
          </a:prstGeom>
          <a:noFill/>
        </p:spPr>
        <p:txBody>
          <a:bodyPr wrap="square">
            <a:spAutoFit/>
          </a:bodyPr>
          <a:lstStyle/>
          <a:p>
            <a:r>
              <a:rPr lang="en-IN" sz="2000" b="1" dirty="0">
                <a:latin typeface="Instrument Sans Medium" panose="020B0604020202020204" charset="0"/>
              </a:rPr>
              <a:t>Template Selection</a:t>
            </a:r>
            <a:endParaRPr lang="en-IN" sz="2000" dirty="0">
              <a:latin typeface="Instrument Sans Medium" panose="020B0604020202020204" charset="0"/>
            </a:endParaRPr>
          </a:p>
          <a:p>
            <a:pPr marL="742950" lvl="1" indent="-285750">
              <a:buFont typeface="Arial" panose="020B0604020202020204" pitchFamily="34" charset="0"/>
              <a:buChar char="•"/>
            </a:pPr>
            <a:r>
              <a:rPr lang="en-IN" sz="2000" dirty="0">
                <a:latin typeface="Instrument Sans Medium" panose="020B0604020202020204" charset="0"/>
              </a:rPr>
              <a:t>Automatically loads best-matching “Golden Reference” board</a:t>
            </a:r>
          </a:p>
          <a:p>
            <a:pPr marL="742950" lvl="1" indent="-285750">
              <a:buFont typeface="Arial" panose="020B0604020202020204" pitchFamily="34" charset="0"/>
              <a:buChar char="•"/>
            </a:pPr>
            <a:endParaRPr lang="en-IN" sz="2000" dirty="0">
              <a:latin typeface="Instrument Sans Medium" panose="020B0604020202020204" charset="0"/>
            </a:endParaRPr>
          </a:p>
          <a:p>
            <a:r>
              <a:rPr lang="en-IN" sz="2000" b="1" dirty="0">
                <a:latin typeface="Instrument Sans Medium" panose="020B0604020202020204" charset="0"/>
              </a:rPr>
              <a:t> Mask Generation</a:t>
            </a:r>
            <a:endParaRPr lang="en-IN" sz="2000" dirty="0">
              <a:latin typeface="Instrument Sans Medium" panose="020B0604020202020204" charset="0"/>
            </a:endParaRPr>
          </a:p>
          <a:p>
            <a:pPr marL="742950" lvl="1" indent="-285750">
              <a:buFont typeface="Arial" panose="020B0604020202020204" pitchFamily="34" charset="0"/>
              <a:buChar char="•"/>
            </a:pPr>
            <a:r>
              <a:rPr lang="en-IN" sz="2000" dirty="0">
                <a:latin typeface="Instrument Sans Medium" panose="020B0604020202020204" charset="0"/>
              </a:rPr>
              <a:t>Isolates potential defect regions via image subtraction</a:t>
            </a:r>
          </a:p>
          <a:p>
            <a:pPr marL="742950" lvl="1" indent="-285750">
              <a:buFont typeface="Arial" panose="020B0604020202020204" pitchFamily="34" charset="0"/>
              <a:buChar char="•"/>
            </a:pPr>
            <a:endParaRPr lang="en-IN" sz="2000" dirty="0">
              <a:latin typeface="Instrument Sans Medium" panose="020B0604020202020204" charset="0"/>
            </a:endParaRPr>
          </a:p>
          <a:p>
            <a:r>
              <a:rPr lang="en-IN" sz="2000" b="1" dirty="0">
                <a:latin typeface="Instrument Sans Medium" panose="020B0604020202020204" charset="0"/>
              </a:rPr>
              <a:t> ROI Extraction</a:t>
            </a:r>
            <a:endParaRPr lang="en-IN" sz="2000" dirty="0">
              <a:latin typeface="Instrument Sans Medium" panose="020B0604020202020204" charset="0"/>
            </a:endParaRPr>
          </a:p>
          <a:p>
            <a:pPr marL="742950" lvl="1" indent="-285750">
              <a:buFont typeface="Arial" panose="020B0604020202020204" pitchFamily="34" charset="0"/>
              <a:buChar char="•"/>
            </a:pPr>
            <a:r>
              <a:rPr lang="en-IN" sz="2000" dirty="0">
                <a:latin typeface="Instrument Sans Medium" panose="020B0604020202020204" charset="0"/>
              </a:rPr>
              <a:t>Detects contours and crops areas of interest for AI analysis</a:t>
            </a:r>
          </a:p>
          <a:p>
            <a:pPr marL="742950" lvl="1" indent="-285750">
              <a:buFont typeface="Arial" panose="020B0604020202020204" pitchFamily="34" charset="0"/>
              <a:buChar char="•"/>
            </a:pPr>
            <a:endParaRPr lang="en-IN" sz="2000" dirty="0">
              <a:latin typeface="Instrument Sans Medium" panose="020B0604020202020204" charset="0"/>
            </a:endParaRPr>
          </a:p>
          <a:p>
            <a:r>
              <a:rPr lang="en-IN" sz="2000" b="1" dirty="0">
                <a:latin typeface="Instrument Sans Medium" panose="020B0604020202020204" charset="0"/>
              </a:rPr>
              <a:t> CNN Classification</a:t>
            </a:r>
            <a:endParaRPr lang="en-IN" sz="2000" dirty="0">
              <a:latin typeface="Instrument Sans Medium" panose="020B0604020202020204" charset="0"/>
            </a:endParaRPr>
          </a:p>
          <a:p>
            <a:pPr marL="742950" lvl="1" indent="-285750">
              <a:buFont typeface="Arial" panose="020B0604020202020204" pitchFamily="34" charset="0"/>
              <a:buChar char="•"/>
            </a:pPr>
            <a:r>
              <a:rPr lang="en-IN" sz="2000" dirty="0">
                <a:latin typeface="Instrument Sans Medium" panose="020B0604020202020204" charset="0"/>
              </a:rPr>
              <a:t>Cropped ROIs classified using EfficientNet-B0</a:t>
            </a:r>
          </a:p>
          <a:p>
            <a:endParaRPr lang="en-IN" sz="2000" b="1" dirty="0">
              <a:latin typeface="Instrument Sans Medium" panose="020B0604020202020204" charset="0"/>
            </a:endParaRPr>
          </a:p>
          <a:p>
            <a:r>
              <a:rPr lang="en-IN" sz="2000" b="1" dirty="0">
                <a:latin typeface="Instrument Sans Medium" panose="020B0604020202020204" charset="0"/>
              </a:rPr>
              <a:t> Visualization</a:t>
            </a:r>
            <a:endParaRPr lang="en-IN" sz="2000" dirty="0">
              <a:latin typeface="Instrument Sans Medium" panose="020B0604020202020204" charset="0"/>
            </a:endParaRPr>
          </a:p>
          <a:p>
            <a:pPr marL="742950" lvl="1" indent="-285750">
              <a:buFont typeface="Arial" panose="020B0604020202020204" pitchFamily="34" charset="0"/>
              <a:buChar char="•"/>
            </a:pPr>
            <a:r>
              <a:rPr lang="en-IN" sz="2000" dirty="0">
                <a:latin typeface="Instrument Sans Medium" panose="020B0604020202020204" charset="0"/>
              </a:rPr>
              <a:t>Annotates original image with bounding boxes &amp; defect labels</a:t>
            </a:r>
          </a:p>
          <a:p>
            <a:pPr>
              <a:buNone/>
            </a:pPr>
            <a:endParaRPr lang="en-IN" sz="2000" b="1" dirty="0">
              <a:latin typeface="Instrument Sans Medium" panose="020B0604020202020204" charset="0"/>
            </a:endParaRPr>
          </a:p>
          <a:p>
            <a:pPr>
              <a:buNone/>
            </a:pPr>
            <a:r>
              <a:rPr lang="en-IN" sz="2000" b="1" dirty="0">
                <a:latin typeface="Instrument Sans Medium" panose="020B0604020202020204" charset="0"/>
              </a:rPr>
              <a:t>Performance Benchmarks</a:t>
            </a:r>
            <a:endParaRPr lang="en-IN" sz="2000" dirty="0">
              <a:latin typeface="Instrument Sans Medium" panose="020B0604020202020204" charset="0"/>
            </a:endParaRPr>
          </a:p>
          <a:p>
            <a:r>
              <a:rPr lang="en-IN" sz="2000" b="1" dirty="0">
                <a:latin typeface="Instrument Sans Medium" panose="020B0604020202020204" charset="0"/>
              </a:rPr>
              <a:t>	Average Latency:</a:t>
            </a:r>
            <a:r>
              <a:rPr lang="en-IN" sz="2000" dirty="0">
                <a:latin typeface="Instrument Sans Medium" panose="020B0604020202020204" charset="0"/>
              </a:rPr>
              <a:t> 0.847 sec/image (GPU)</a:t>
            </a:r>
          </a:p>
          <a:p>
            <a:r>
              <a:rPr lang="en-IN" sz="2000" b="1" dirty="0">
                <a:latin typeface="Instrument Sans Medium" panose="020B0604020202020204" charset="0"/>
              </a:rPr>
              <a:t>	Detection Rate:</a:t>
            </a:r>
            <a:r>
              <a:rPr lang="en-IN" sz="2000" dirty="0">
                <a:latin typeface="Instrument Sans Medium" panose="020B0604020202020204" charset="0"/>
              </a:rPr>
              <a:t> 97.3% true positive defects</a:t>
            </a:r>
          </a:p>
          <a:p>
            <a:r>
              <a:rPr lang="en-IN" sz="2000" b="1" dirty="0">
                <a:latin typeface="Instrument Sans Medium" panose="020B0604020202020204" charset="0"/>
              </a:rPr>
              <a:t>	False Positive Rate:</a:t>
            </a:r>
            <a:r>
              <a:rPr lang="en-IN" sz="2000" dirty="0">
                <a:latin typeface="Instrument Sans Medium" panose="020B0604020202020204" charset="0"/>
              </a:rPr>
              <a:t> 2.1%</a:t>
            </a:r>
          </a:p>
          <a:p>
            <a:r>
              <a:rPr lang="en-IN" sz="2000" b="1" dirty="0">
                <a:latin typeface="Instrument Sans Medium" panose="020B0604020202020204" charset="0"/>
              </a:rPr>
              <a:t>	Evidence Chain:</a:t>
            </a:r>
            <a:r>
              <a:rPr lang="en-IN" sz="2000" dirty="0">
                <a:latin typeface="Instrument Sans Medium" panose="020B0604020202020204" charset="0"/>
              </a:rPr>
              <a:t> Generates reference, mask &amp; labelled predictions for verification</a:t>
            </a:r>
          </a:p>
        </p:txBody>
      </p:sp>
      <p:pic>
        <p:nvPicPr>
          <p:cNvPr id="5" name="Picture 4">
            <a:extLst>
              <a:ext uri="{FF2B5EF4-FFF2-40B4-BE49-F238E27FC236}">
                <a16:creationId xmlns:a16="http://schemas.microsoft.com/office/drawing/2014/main" id="{A861D6C2-79EC-3660-C891-4EF9557FD3BD}"/>
              </a:ext>
            </a:extLst>
          </p:cNvPr>
          <p:cNvPicPr>
            <a:picLocks noChangeAspect="1"/>
          </p:cNvPicPr>
          <p:nvPr/>
        </p:nvPicPr>
        <p:blipFill>
          <a:blip r:embed="rId2"/>
          <a:stretch>
            <a:fillRect/>
          </a:stretch>
        </p:blipFill>
        <p:spPr>
          <a:xfrm>
            <a:off x="599036" y="313487"/>
            <a:ext cx="1798476" cy="1112616"/>
          </a:xfrm>
          <a:prstGeom prst="rect">
            <a:avLst/>
          </a:prstGeom>
        </p:spPr>
      </p:pic>
      <p:sp>
        <p:nvSpPr>
          <p:cNvPr id="7" name="TextBox 6">
            <a:extLst>
              <a:ext uri="{FF2B5EF4-FFF2-40B4-BE49-F238E27FC236}">
                <a16:creationId xmlns:a16="http://schemas.microsoft.com/office/drawing/2014/main" id="{A6E770F3-C030-D860-541A-F9B3B0F13D44}"/>
              </a:ext>
            </a:extLst>
          </p:cNvPr>
          <p:cNvSpPr txBox="1"/>
          <p:nvPr/>
        </p:nvSpPr>
        <p:spPr>
          <a:xfrm>
            <a:off x="3256156" y="716676"/>
            <a:ext cx="7315200" cy="352982"/>
          </a:xfrm>
          <a:prstGeom prst="rect">
            <a:avLst/>
          </a:prstGeom>
          <a:noFill/>
        </p:spPr>
        <p:txBody>
          <a:bodyPr wrap="square">
            <a:spAutoFit/>
          </a:bodyPr>
          <a:lstStyle/>
          <a:p>
            <a:pPr marL="0" indent="0" algn="l">
              <a:lnSpc>
                <a:spcPts val="1600"/>
              </a:lnSpc>
              <a:buNone/>
            </a:pPr>
            <a:r>
              <a:rPr lang="en-US" sz="3200" b="1" dirty="0">
                <a:solidFill>
                  <a:srgbClr val="5B5F71"/>
                </a:solidFill>
                <a:latin typeface="Instrument Sans Semi Bold" pitchFamily="34" charset="0"/>
                <a:ea typeface="Instrument Sans Semi Bold" pitchFamily="34" charset="-122"/>
                <a:cs typeface="Instrument Sans Semi Bold" pitchFamily="34" charset="-120"/>
              </a:rPr>
              <a:t>Inference Pipeline &amp; Prediction</a:t>
            </a:r>
            <a:endParaRPr lang="en-US" sz="3200" b="1" dirty="0"/>
          </a:p>
        </p:txBody>
      </p:sp>
    </p:spTree>
    <p:extLst>
      <p:ext uri="{BB962C8B-B14F-4D97-AF65-F5344CB8AC3E}">
        <p14:creationId xmlns:p14="http://schemas.microsoft.com/office/powerpoint/2010/main" val="110081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882669" y="427221"/>
            <a:ext cx="6156722" cy="452557"/>
          </a:xfrm>
          <a:prstGeom prst="rect">
            <a:avLst/>
          </a:prstGeom>
          <a:noFill/>
          <a:ln/>
        </p:spPr>
        <p:txBody>
          <a:bodyPr wrap="none" lIns="0" tIns="0" rIns="0" bIns="0" rtlCol="0" anchor="t"/>
          <a:lstStyle/>
          <a:p>
            <a:pPr marL="0" indent="0" algn="l">
              <a:lnSpc>
                <a:spcPts val="3550"/>
              </a:lnSpc>
              <a:buNone/>
            </a:pPr>
            <a:r>
              <a:rPr lang="en-US" sz="2850" dirty="0">
                <a:solidFill>
                  <a:srgbClr val="505468"/>
                </a:solidFill>
                <a:latin typeface="Instrument Sans Semi Bold" pitchFamily="34" charset="0"/>
                <a:ea typeface="Instrument Sans Semi Bold" pitchFamily="34" charset="-122"/>
                <a:cs typeface="Instrument Sans Semi Bold" pitchFamily="34" charset="-120"/>
              </a:rPr>
              <a:t>Backend Pipeline: Robust &amp; Efficient</a:t>
            </a:r>
            <a:endParaRPr lang="en-US" sz="2850" dirty="0"/>
          </a:p>
        </p:txBody>
      </p:sp>
      <p:pic>
        <p:nvPicPr>
          <p:cNvPr id="4" name="Image 0" descr="preencoded.png"/>
          <p:cNvPicPr>
            <a:picLocks noChangeAspect="1"/>
          </p:cNvPicPr>
          <p:nvPr/>
        </p:nvPicPr>
        <p:blipFill>
          <a:blip r:embed="rId3"/>
          <a:stretch>
            <a:fillRect/>
          </a:stretch>
        </p:blipFill>
        <p:spPr>
          <a:xfrm>
            <a:off x="1589127" y="1806297"/>
            <a:ext cx="905232" cy="1086326"/>
          </a:xfrm>
          <a:prstGeom prst="rect">
            <a:avLst/>
          </a:prstGeom>
        </p:spPr>
      </p:pic>
      <p:sp>
        <p:nvSpPr>
          <p:cNvPr id="5" name="Text 2"/>
          <p:cNvSpPr/>
          <p:nvPr/>
        </p:nvSpPr>
        <p:spPr>
          <a:xfrm>
            <a:off x="2675334" y="1987272"/>
            <a:ext cx="2263140" cy="282893"/>
          </a:xfrm>
          <a:prstGeom prst="rect">
            <a:avLst/>
          </a:prstGeom>
          <a:noFill/>
          <a:ln/>
        </p:spPr>
        <p:txBody>
          <a:bodyPr wrap="none" lIns="0" tIns="0" rIns="0" bIns="0" rtlCol="0" anchor="t"/>
          <a:lstStyle/>
          <a:p>
            <a:pPr marL="0" indent="0" algn="l">
              <a:lnSpc>
                <a:spcPts val="2200"/>
              </a:lnSpc>
              <a:buNone/>
            </a:pPr>
            <a:r>
              <a:rPr lang="en-US" sz="1750" dirty="0">
                <a:solidFill>
                  <a:srgbClr val="5B5F71"/>
                </a:solidFill>
                <a:latin typeface="Instrument Sans Semi Bold" pitchFamily="34" charset="0"/>
                <a:ea typeface="Instrument Sans Semi Bold" pitchFamily="34" charset="-122"/>
                <a:cs typeface="Instrument Sans Semi Bold" pitchFamily="34" charset="-120"/>
              </a:rPr>
              <a:t>Frontend (Streamlit)</a:t>
            </a:r>
            <a:endParaRPr lang="en-US" sz="1750" dirty="0"/>
          </a:p>
        </p:txBody>
      </p:sp>
      <p:pic>
        <p:nvPicPr>
          <p:cNvPr id="6" name="Image 1" descr="preencoded.png"/>
          <p:cNvPicPr>
            <a:picLocks noChangeAspect="1"/>
          </p:cNvPicPr>
          <p:nvPr/>
        </p:nvPicPr>
        <p:blipFill>
          <a:blip r:embed="rId4"/>
          <a:stretch>
            <a:fillRect/>
          </a:stretch>
        </p:blipFill>
        <p:spPr>
          <a:xfrm>
            <a:off x="1589127" y="2892623"/>
            <a:ext cx="905232" cy="1086326"/>
          </a:xfrm>
          <a:prstGeom prst="rect">
            <a:avLst/>
          </a:prstGeom>
        </p:spPr>
      </p:pic>
      <p:sp>
        <p:nvSpPr>
          <p:cNvPr id="7" name="Text 3"/>
          <p:cNvSpPr/>
          <p:nvPr/>
        </p:nvSpPr>
        <p:spPr>
          <a:xfrm>
            <a:off x="2675334" y="3073598"/>
            <a:ext cx="2263140" cy="282893"/>
          </a:xfrm>
          <a:prstGeom prst="rect">
            <a:avLst/>
          </a:prstGeom>
          <a:noFill/>
          <a:ln/>
        </p:spPr>
        <p:txBody>
          <a:bodyPr wrap="none" lIns="0" tIns="0" rIns="0" bIns="0" rtlCol="0" anchor="t"/>
          <a:lstStyle/>
          <a:p>
            <a:pPr marL="0" indent="0" algn="l">
              <a:lnSpc>
                <a:spcPts val="2200"/>
              </a:lnSpc>
              <a:buNone/>
            </a:pPr>
            <a:r>
              <a:rPr lang="en-US" sz="1750" dirty="0">
                <a:solidFill>
                  <a:srgbClr val="5B5F71"/>
                </a:solidFill>
                <a:latin typeface="Instrument Sans Semi Bold" pitchFamily="34" charset="0"/>
                <a:ea typeface="Instrument Sans Semi Bold" pitchFamily="34" charset="-122"/>
                <a:cs typeface="Instrument Sans Semi Bold" pitchFamily="34" charset="-120"/>
              </a:rPr>
              <a:t>File Upload Handler</a:t>
            </a:r>
            <a:endParaRPr lang="en-US" sz="1750" dirty="0"/>
          </a:p>
        </p:txBody>
      </p:sp>
      <p:pic>
        <p:nvPicPr>
          <p:cNvPr id="8" name="Image 2" descr="preencoded.png"/>
          <p:cNvPicPr>
            <a:picLocks noChangeAspect="1"/>
          </p:cNvPicPr>
          <p:nvPr/>
        </p:nvPicPr>
        <p:blipFill>
          <a:blip r:embed="rId5"/>
          <a:stretch>
            <a:fillRect/>
          </a:stretch>
        </p:blipFill>
        <p:spPr>
          <a:xfrm>
            <a:off x="1589127" y="3978950"/>
            <a:ext cx="905232" cy="1086326"/>
          </a:xfrm>
          <a:prstGeom prst="rect">
            <a:avLst/>
          </a:prstGeom>
        </p:spPr>
      </p:pic>
      <p:sp>
        <p:nvSpPr>
          <p:cNvPr id="9" name="Text 4"/>
          <p:cNvSpPr/>
          <p:nvPr/>
        </p:nvSpPr>
        <p:spPr>
          <a:xfrm>
            <a:off x="2675334" y="4159925"/>
            <a:ext cx="5836682" cy="282893"/>
          </a:xfrm>
          <a:prstGeom prst="rect">
            <a:avLst/>
          </a:prstGeom>
          <a:noFill/>
          <a:ln/>
        </p:spPr>
        <p:txBody>
          <a:bodyPr wrap="none" lIns="0" tIns="0" rIns="0" bIns="0" rtlCol="0" anchor="t"/>
          <a:lstStyle/>
          <a:p>
            <a:pPr marL="0" indent="0" algn="l">
              <a:lnSpc>
                <a:spcPts val="2200"/>
              </a:lnSpc>
              <a:buNone/>
            </a:pPr>
            <a:r>
              <a:rPr lang="en-US" sz="1750" dirty="0">
                <a:solidFill>
                  <a:srgbClr val="5B5F71"/>
                </a:solidFill>
                <a:latin typeface="Instrument Sans Semi Bold" pitchFamily="34" charset="0"/>
                <a:ea typeface="Instrument Sans Semi Bold" pitchFamily="34" charset="-122"/>
                <a:cs typeface="Instrument Sans Semi Bold" pitchFamily="34" charset="-120"/>
              </a:rPr>
              <a:t>Template Matcher → Image Processor → CNN Inference</a:t>
            </a:r>
            <a:endParaRPr lang="en-US" sz="1750" dirty="0"/>
          </a:p>
        </p:txBody>
      </p:sp>
      <p:pic>
        <p:nvPicPr>
          <p:cNvPr id="10" name="Image 3" descr="preencoded.png"/>
          <p:cNvPicPr>
            <a:picLocks noChangeAspect="1"/>
          </p:cNvPicPr>
          <p:nvPr/>
        </p:nvPicPr>
        <p:blipFill>
          <a:blip r:embed="rId6"/>
          <a:stretch>
            <a:fillRect/>
          </a:stretch>
        </p:blipFill>
        <p:spPr>
          <a:xfrm>
            <a:off x="1589127" y="5065276"/>
            <a:ext cx="905232" cy="1086326"/>
          </a:xfrm>
          <a:prstGeom prst="rect">
            <a:avLst/>
          </a:prstGeom>
        </p:spPr>
      </p:pic>
      <p:sp>
        <p:nvSpPr>
          <p:cNvPr id="11" name="Text 5"/>
          <p:cNvSpPr/>
          <p:nvPr/>
        </p:nvSpPr>
        <p:spPr>
          <a:xfrm>
            <a:off x="2675334" y="5246251"/>
            <a:ext cx="2263140" cy="282893"/>
          </a:xfrm>
          <a:prstGeom prst="rect">
            <a:avLst/>
          </a:prstGeom>
          <a:noFill/>
          <a:ln/>
        </p:spPr>
        <p:txBody>
          <a:bodyPr wrap="none" lIns="0" tIns="0" rIns="0" bIns="0" rtlCol="0" anchor="t"/>
          <a:lstStyle/>
          <a:p>
            <a:pPr marL="0" indent="0" algn="l">
              <a:lnSpc>
                <a:spcPts val="2200"/>
              </a:lnSpc>
              <a:buNone/>
            </a:pPr>
            <a:r>
              <a:rPr lang="en-US" sz="1750" dirty="0">
                <a:solidFill>
                  <a:srgbClr val="5B5F71"/>
                </a:solidFill>
                <a:latin typeface="Instrument Sans Semi Bold" pitchFamily="34" charset="0"/>
                <a:ea typeface="Instrument Sans Semi Bold" pitchFamily="34" charset="-122"/>
                <a:cs typeface="Instrument Sans Semi Bold" pitchFamily="34" charset="-120"/>
              </a:rPr>
              <a:t>Result Formatter</a:t>
            </a:r>
            <a:endParaRPr lang="en-US" sz="1750" dirty="0"/>
          </a:p>
        </p:txBody>
      </p:sp>
      <p:pic>
        <p:nvPicPr>
          <p:cNvPr id="12" name="Image 4" descr="preencoded.png"/>
          <p:cNvPicPr>
            <a:picLocks noChangeAspect="1"/>
          </p:cNvPicPr>
          <p:nvPr/>
        </p:nvPicPr>
        <p:blipFill>
          <a:blip r:embed="rId7"/>
          <a:stretch>
            <a:fillRect/>
          </a:stretch>
        </p:blipFill>
        <p:spPr>
          <a:xfrm>
            <a:off x="1589127" y="6151602"/>
            <a:ext cx="905232" cy="1086326"/>
          </a:xfrm>
          <a:prstGeom prst="rect">
            <a:avLst/>
          </a:prstGeom>
        </p:spPr>
      </p:pic>
      <p:sp>
        <p:nvSpPr>
          <p:cNvPr id="13" name="Text 6"/>
          <p:cNvSpPr/>
          <p:nvPr/>
        </p:nvSpPr>
        <p:spPr>
          <a:xfrm>
            <a:off x="2675334" y="6332577"/>
            <a:ext cx="3585091" cy="282893"/>
          </a:xfrm>
          <a:prstGeom prst="rect">
            <a:avLst/>
          </a:prstGeom>
          <a:noFill/>
          <a:ln/>
        </p:spPr>
        <p:txBody>
          <a:bodyPr wrap="none" lIns="0" tIns="0" rIns="0" bIns="0" rtlCol="0" anchor="t"/>
          <a:lstStyle/>
          <a:p>
            <a:pPr marL="0" indent="0" algn="l">
              <a:lnSpc>
                <a:spcPts val="2200"/>
              </a:lnSpc>
              <a:buNone/>
            </a:pPr>
            <a:r>
              <a:rPr lang="en-US" sz="1750" dirty="0">
                <a:solidFill>
                  <a:srgbClr val="5B5F71"/>
                </a:solidFill>
                <a:latin typeface="Instrument Sans Semi Bold" pitchFamily="34" charset="0"/>
                <a:ea typeface="Instrument Sans Semi Bold" pitchFamily="34" charset="-122"/>
                <a:cs typeface="Instrument Sans Semi Bold" pitchFamily="34" charset="-120"/>
              </a:rPr>
              <a:t>UI Renderer (Images + Dataframe)</a:t>
            </a:r>
            <a:endParaRPr lang="en-US" sz="1750" dirty="0"/>
          </a:p>
        </p:txBody>
      </p:sp>
      <p:pic>
        <p:nvPicPr>
          <p:cNvPr id="15" name="Picture 14">
            <a:extLst>
              <a:ext uri="{FF2B5EF4-FFF2-40B4-BE49-F238E27FC236}">
                <a16:creationId xmlns:a16="http://schemas.microsoft.com/office/drawing/2014/main" id="{FBD23906-B4BA-2A0B-CB6F-D692B9C374C3}"/>
              </a:ext>
            </a:extLst>
          </p:cNvPr>
          <p:cNvPicPr>
            <a:picLocks noChangeAspect="1"/>
          </p:cNvPicPr>
          <p:nvPr/>
        </p:nvPicPr>
        <p:blipFill>
          <a:blip r:embed="rId8"/>
          <a:stretch>
            <a:fillRect/>
          </a:stretch>
        </p:blipFill>
        <p:spPr>
          <a:xfrm>
            <a:off x="393518" y="226724"/>
            <a:ext cx="1310754" cy="10364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BCF84A-D76B-1B8F-EEF3-5293F7815CF3}"/>
              </a:ext>
            </a:extLst>
          </p:cNvPr>
          <p:cNvSpPr>
            <a:spLocks noChangeArrowheads="1"/>
          </p:cNvSpPr>
          <p:nvPr/>
        </p:nvSpPr>
        <p:spPr bwMode="auto">
          <a:xfrm>
            <a:off x="2531327" y="1464796"/>
            <a:ext cx="14964937"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dirty="0">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Live Inspection:</a:t>
            </a:r>
            <a:r>
              <a:rPr kumimoji="0" lang="en-US" altLang="en-US" b="0" i="0" u="none" strike="noStrike" cap="none" normalizeH="0" baseline="0" dirty="0">
                <a:ln>
                  <a:noFill/>
                </a:ln>
                <a:solidFill>
                  <a:schemeClr val="tx1"/>
                </a:solidFill>
                <a:effectLst/>
                <a:latin typeface="Instrument Sans Medium" panose="020B0604020202020204" charset="0"/>
              </a:rPr>
              <a:t> Real-time processing results &amp; visual feedback</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Historical Trends:</a:t>
            </a:r>
            <a:r>
              <a:rPr kumimoji="0" lang="en-US" altLang="en-US" b="0" i="0" u="none" strike="noStrike" cap="none" normalizeH="0" baseline="0" dirty="0">
                <a:ln>
                  <a:noFill/>
                </a:ln>
                <a:solidFill>
                  <a:schemeClr val="tx1"/>
                </a:solidFill>
                <a:effectLst/>
                <a:latin typeface="Instrument Sans Medium" panose="020B0604020202020204" charset="0"/>
              </a:rPr>
              <a:t> Tracks latency and detection trends over time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KPI Tracking:</a:t>
            </a:r>
            <a:r>
              <a:rPr kumimoji="0" lang="en-US" altLang="en-US" b="0" i="0" u="none" strike="noStrike" cap="none" normalizeH="0" baseline="0" dirty="0">
                <a:ln>
                  <a:noFill/>
                </a:ln>
                <a:solidFill>
                  <a:schemeClr val="tx1"/>
                </a:solidFill>
                <a:effectLst/>
                <a:latin typeface="Instrument Sans Medium" panose="020B0604020202020204" charset="0"/>
              </a:rPr>
              <a:t> Average template match score &amp; cumulative defect counts</a:t>
            </a:r>
            <a:endParaRPr lang="en-US" altLang="en-US" dirty="0">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Reduced Latency:</a:t>
            </a:r>
            <a:r>
              <a:rPr kumimoji="0" lang="en-US" altLang="en-US" b="0" i="0" u="none" strike="noStrike" cap="none" normalizeH="0" baseline="0" dirty="0">
                <a:ln>
                  <a:noFill/>
                </a:ln>
                <a:solidFill>
                  <a:schemeClr val="tx1"/>
                </a:solidFill>
                <a:effectLst/>
                <a:latin typeface="Instrument Sans Medium" panose="020B0604020202020204" charset="0"/>
              </a:rPr>
              <a:t> 1.42s → 0.847s per image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Memory Efficiency:</a:t>
            </a:r>
            <a:r>
              <a:rPr kumimoji="0" lang="en-US" altLang="en-US" b="0" i="0" u="none" strike="noStrike" cap="none" normalizeH="0" baseline="0" dirty="0">
                <a:ln>
                  <a:noFill/>
                </a:ln>
                <a:solidFill>
                  <a:schemeClr val="tx1"/>
                </a:solidFill>
                <a:effectLst/>
                <a:latin typeface="Instrument Sans Medium" panose="020B0604020202020204" charset="0"/>
              </a:rPr>
              <a:t> Peak memory optimized from 2.1GB → 1.3GB</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Batch Processing:</a:t>
            </a:r>
            <a:r>
              <a:rPr kumimoji="0" lang="en-US" altLang="en-US" b="0" i="0" u="none" strike="noStrike" cap="none" normalizeH="0" baseline="0" dirty="0">
                <a:ln>
                  <a:noFill/>
                </a:ln>
                <a:solidFill>
                  <a:schemeClr val="tx1"/>
                </a:solidFill>
                <a:effectLst/>
                <a:latin typeface="Instrument Sans Medium" panose="020B0604020202020204" charset="0"/>
              </a:rPr>
              <a:t> High-throughput at 5 images/sec</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i="0" u="none" strike="noStrike" cap="none" normalizeH="0" baseline="0" dirty="0">
                <a:ln>
                  <a:noFill/>
                </a:ln>
                <a:solidFill>
                  <a:schemeClr val="tx1"/>
                </a:solidFill>
                <a:effectLst/>
                <a:latin typeface="Instrument Sans Medium" panose="020B0604020202020204" charset="0"/>
              </a:rPr>
              <a:t>Data Export Capabilities in csv and images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Annotated Images:</a:t>
            </a:r>
            <a:r>
              <a:rPr kumimoji="0" lang="en-US" altLang="en-US" b="0" i="0" u="none" strike="noStrike" cap="none" normalizeH="0" baseline="0" dirty="0">
                <a:ln>
                  <a:noFill/>
                </a:ln>
                <a:solidFill>
                  <a:schemeClr val="tx1"/>
                </a:solidFill>
                <a:effectLst/>
                <a:latin typeface="Instrument Sans Medium" panose="020B0604020202020204" charset="0"/>
              </a:rPr>
              <a:t> High-res JPGs with bounding boxes, labels &amp; confidence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CSV Logs:</a:t>
            </a:r>
            <a:r>
              <a:rPr kumimoji="0" lang="en-US" altLang="en-US" b="0" i="0" u="none" strike="noStrike" cap="none" normalizeH="0" baseline="0" dirty="0">
                <a:ln>
                  <a:noFill/>
                </a:ln>
                <a:solidFill>
                  <a:schemeClr val="tx1"/>
                </a:solidFill>
                <a:effectLst/>
                <a:latin typeface="Instrument Sans Medium" panose="020B0604020202020204" charset="0"/>
              </a:rPr>
              <a:t> Structured report with defect IDs, types, confidence &amp; coordinates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Best Accuracy:</a:t>
            </a:r>
            <a:r>
              <a:rPr kumimoji="0" lang="en-US" altLang="en-US" b="0" i="0" u="none" strike="noStrike" cap="none" normalizeH="0" baseline="0" dirty="0">
                <a:ln>
                  <a:noFill/>
                </a:ln>
                <a:solidFill>
                  <a:schemeClr val="tx1"/>
                </a:solidFill>
                <a:effectLst/>
                <a:latin typeface="Instrument Sans Medium" panose="020B0604020202020204" charset="0"/>
              </a:rPr>
              <a:t> ~99%</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Training Progress:</a:t>
            </a:r>
            <a:r>
              <a:rPr kumimoji="0" lang="en-US" altLang="en-US" b="0" i="0" u="none" strike="noStrike" cap="none" normalizeH="0" baseline="0" dirty="0">
                <a:ln>
                  <a:noFill/>
                </a:ln>
                <a:solidFill>
                  <a:schemeClr val="tx1"/>
                </a:solidFill>
                <a:effectLst/>
                <a:latin typeface="Instrument Sans Medium" panose="020B0604020202020204" charset="0"/>
              </a:rPr>
              <a:t> Rapid convergence, early stopping triggered at epoch 11</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Instrument Sans Medium" panose="020B0604020202020204" charset="0"/>
              </a:rPr>
              <a:t>Stable Loss:</a:t>
            </a:r>
            <a:r>
              <a:rPr kumimoji="0" lang="en-US" altLang="en-US" b="0" i="0" u="none" strike="noStrike" cap="none" normalizeH="0" baseline="0" dirty="0">
                <a:ln>
                  <a:noFill/>
                </a:ln>
                <a:solidFill>
                  <a:schemeClr val="tx1"/>
                </a:solidFill>
                <a:effectLst/>
                <a:latin typeface="Instrument Sans Medium" panose="020B0604020202020204" charset="0"/>
              </a:rPr>
              <a:t> Smooth reduction in training &amp; validation loss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Instrument Sans Medium" panose="020B0604020202020204" charset="0"/>
            </a:endParaRPr>
          </a:p>
        </p:txBody>
      </p:sp>
      <p:pic>
        <p:nvPicPr>
          <p:cNvPr id="3" name="Picture 2">
            <a:extLst>
              <a:ext uri="{FF2B5EF4-FFF2-40B4-BE49-F238E27FC236}">
                <a16:creationId xmlns:a16="http://schemas.microsoft.com/office/drawing/2014/main" id="{E5221DF2-53AB-CE7C-69DD-AF78EF87F936}"/>
              </a:ext>
            </a:extLst>
          </p:cNvPr>
          <p:cNvPicPr>
            <a:picLocks noChangeAspect="1"/>
          </p:cNvPicPr>
          <p:nvPr/>
        </p:nvPicPr>
        <p:blipFill>
          <a:blip r:embed="rId2"/>
          <a:stretch>
            <a:fillRect/>
          </a:stretch>
        </p:blipFill>
        <p:spPr>
          <a:xfrm>
            <a:off x="851436" y="279474"/>
            <a:ext cx="1196444" cy="1158340"/>
          </a:xfrm>
          <a:prstGeom prst="rect">
            <a:avLst/>
          </a:prstGeom>
        </p:spPr>
      </p:pic>
      <p:sp>
        <p:nvSpPr>
          <p:cNvPr id="5" name="TextBox 4">
            <a:extLst>
              <a:ext uri="{FF2B5EF4-FFF2-40B4-BE49-F238E27FC236}">
                <a16:creationId xmlns:a16="http://schemas.microsoft.com/office/drawing/2014/main" id="{ABD02A67-8902-B6E7-9B81-01C8CB6AB918}"/>
              </a:ext>
            </a:extLst>
          </p:cNvPr>
          <p:cNvSpPr txBox="1"/>
          <p:nvPr/>
        </p:nvSpPr>
        <p:spPr>
          <a:xfrm>
            <a:off x="2768291" y="560980"/>
            <a:ext cx="8748130" cy="339580"/>
          </a:xfrm>
          <a:prstGeom prst="rect">
            <a:avLst/>
          </a:prstGeom>
          <a:noFill/>
        </p:spPr>
        <p:txBody>
          <a:bodyPr wrap="square">
            <a:spAutoFit/>
          </a:bodyPr>
          <a:lstStyle/>
          <a:p>
            <a:pPr marL="0" indent="0" algn="l">
              <a:lnSpc>
                <a:spcPts val="1600"/>
              </a:lnSpc>
              <a:buNone/>
            </a:pPr>
            <a:r>
              <a:rPr lang="en-US" sz="2800" b="1" dirty="0">
                <a:solidFill>
                  <a:srgbClr val="5B5F71"/>
                </a:solidFill>
                <a:latin typeface="Instrument Sans Semi Bold" pitchFamily="34" charset="0"/>
                <a:ea typeface="Instrument Sans Semi Bold" pitchFamily="34" charset="-122"/>
                <a:cs typeface="Instrument Sans Semi Bold" pitchFamily="34" charset="-120"/>
              </a:rPr>
              <a:t>Performance Analytics &amp; Export</a:t>
            </a:r>
            <a:endParaRPr lang="en-US" sz="2800" b="1" dirty="0"/>
          </a:p>
        </p:txBody>
      </p:sp>
    </p:spTree>
    <p:extLst>
      <p:ext uri="{BB962C8B-B14F-4D97-AF65-F5344CB8AC3E}">
        <p14:creationId xmlns:p14="http://schemas.microsoft.com/office/powerpoint/2010/main" val="1565218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754</Words>
  <Application>Microsoft Office PowerPoint</Application>
  <PresentationFormat>Custom</PresentationFormat>
  <Paragraphs>104</Paragraphs>
  <Slides>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Instrument Sans Semi Bold</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sritha d</cp:lastModifiedBy>
  <cp:revision>3</cp:revision>
  <dcterms:created xsi:type="dcterms:W3CDTF">2026-01-19T12:55:51Z</dcterms:created>
  <dcterms:modified xsi:type="dcterms:W3CDTF">2026-01-20T10:25:54Z</dcterms:modified>
</cp:coreProperties>
</file>